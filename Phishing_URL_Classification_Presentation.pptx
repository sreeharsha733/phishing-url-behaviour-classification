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44AB"/>
    <a:srgbClr val="3434B6"/>
    <a:srgbClr val="523DAD"/>
    <a:srgbClr val="2135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ECF1CC-549C-4034-8F87-51E9DF717562}" v="11" dt="2026-09-27T08:51:02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 HARSHA" userId="130b8ab82eb85e8a" providerId="LiveId" clId="{20622500-5E93-43FA-823F-A85BA7F244DD}"/>
    <pc:docChg chg="undo custSel addSld modSld">
      <pc:chgData name="SREE HARSHA" userId="130b8ab82eb85e8a" providerId="LiveId" clId="{20622500-5E93-43FA-823F-A85BA7F244DD}" dt="2026-09-27T08:53:39.977" v="125" actId="931"/>
      <pc:docMkLst>
        <pc:docMk/>
      </pc:docMkLst>
      <pc:sldChg chg="modSp mod">
        <pc:chgData name="SREE HARSHA" userId="130b8ab82eb85e8a" providerId="LiveId" clId="{20622500-5E93-43FA-823F-A85BA7F244DD}" dt="2026-09-27T08:39:37.249" v="38" actId="20577"/>
        <pc:sldMkLst>
          <pc:docMk/>
          <pc:sldMk cId="0" sldId="256"/>
        </pc:sldMkLst>
        <pc:spChg chg="mod">
          <ac:chgData name="SREE HARSHA" userId="130b8ab82eb85e8a" providerId="LiveId" clId="{20622500-5E93-43FA-823F-A85BA7F244DD}" dt="2026-09-27T08:39:37.249" v="38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SREE HARSHA" userId="130b8ab82eb85e8a" providerId="LiveId" clId="{20622500-5E93-43FA-823F-A85BA7F244DD}" dt="2026-09-27T08:48:22.087" v="118" actId="14100"/>
        <pc:sldMkLst>
          <pc:docMk/>
          <pc:sldMk cId="0" sldId="263"/>
        </pc:sldMkLst>
        <pc:spChg chg="add del">
          <ac:chgData name="SREE HARSHA" userId="130b8ab82eb85e8a" providerId="LiveId" clId="{20622500-5E93-43FA-823F-A85BA7F244DD}" dt="2026-09-27T08:41:14.810" v="41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SREE HARSHA" userId="130b8ab82eb85e8a" providerId="LiveId" clId="{20622500-5E93-43FA-823F-A85BA7F244DD}" dt="2026-09-27T08:41:22.715" v="42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SREE HARSHA" userId="130b8ab82eb85e8a" providerId="LiveId" clId="{20622500-5E93-43FA-823F-A85BA7F244DD}" dt="2026-09-27T08:41:26.937" v="43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SREE HARSHA" userId="130b8ab82eb85e8a" providerId="LiveId" clId="{20622500-5E93-43FA-823F-A85BA7F244DD}" dt="2026-09-27T08:41:33.585" v="45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SREE HARSHA" userId="130b8ab82eb85e8a" providerId="LiveId" clId="{20622500-5E93-43FA-823F-A85BA7F244DD}" dt="2026-09-27T08:41:30.241" v="44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SREE HARSHA" userId="130b8ab82eb85e8a" providerId="LiveId" clId="{20622500-5E93-43FA-823F-A85BA7F244DD}" dt="2026-09-27T08:41:55.024" v="46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SREE HARSHA" userId="130b8ab82eb85e8a" providerId="LiveId" clId="{20622500-5E93-43FA-823F-A85BA7F244DD}" dt="2026-09-27T08:41:59.485" v="47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SREE HARSHA" userId="130b8ab82eb85e8a" providerId="LiveId" clId="{20622500-5E93-43FA-823F-A85BA7F244DD}" dt="2026-09-27T08:42:02.597" v="48" actId="478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REE HARSHA" userId="130b8ab82eb85e8a" providerId="LiveId" clId="{20622500-5E93-43FA-823F-A85BA7F244DD}" dt="2026-09-27T08:43:56.562" v="75" actId="20577"/>
          <ac:spMkLst>
            <pc:docMk/>
            <pc:sldMk cId="0" sldId="263"/>
            <ac:spMk id="16" creationId="{00000000-0000-0000-0000-000000000000}"/>
          </ac:spMkLst>
        </pc:spChg>
        <pc:spChg chg="add del">
          <ac:chgData name="SREE HARSHA" userId="130b8ab82eb85e8a" providerId="LiveId" clId="{20622500-5E93-43FA-823F-A85BA7F244DD}" dt="2026-09-27T08:42:20.200" v="51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SREE HARSHA" userId="130b8ab82eb85e8a" providerId="LiveId" clId="{20622500-5E93-43FA-823F-A85BA7F244DD}" dt="2026-09-27T08:42:11.804" v="49" actId="478"/>
          <ac:spMkLst>
            <pc:docMk/>
            <pc:sldMk cId="0" sldId="263"/>
            <ac:spMk id="22" creationId="{00000000-0000-0000-0000-000000000000}"/>
          </ac:spMkLst>
        </pc:spChg>
        <pc:spChg chg="add del mod">
          <ac:chgData name="SREE HARSHA" userId="130b8ab82eb85e8a" providerId="LiveId" clId="{20622500-5E93-43FA-823F-A85BA7F244DD}" dt="2026-09-27T08:45:30.291" v="113" actId="1076"/>
          <ac:spMkLst>
            <pc:docMk/>
            <pc:sldMk cId="0" sldId="263"/>
            <ac:spMk id="26" creationId="{7125F208-C0AB-848E-32D5-047A08662E25}"/>
          </ac:spMkLst>
        </pc:spChg>
        <pc:picChg chg="add mod">
          <ac:chgData name="SREE HARSHA" userId="130b8ab82eb85e8a" providerId="LiveId" clId="{20622500-5E93-43FA-823F-A85BA7F244DD}" dt="2026-09-27T08:48:22.087" v="118" actId="14100"/>
          <ac:picMkLst>
            <pc:docMk/>
            <pc:sldMk cId="0" sldId="263"/>
            <ac:picMk id="28" creationId="{BFCC66C7-A032-7504-8F9C-F74DAD840C91}"/>
          </ac:picMkLst>
        </pc:picChg>
      </pc:sldChg>
      <pc:sldChg chg="addSp modSp new mod setBg">
        <pc:chgData name="SREE HARSHA" userId="130b8ab82eb85e8a" providerId="LiveId" clId="{20622500-5E93-43FA-823F-A85BA7F244DD}" dt="2026-09-27T08:53:39.977" v="125" actId="931"/>
        <pc:sldMkLst>
          <pc:docMk/>
          <pc:sldMk cId="3546880019" sldId="264"/>
        </pc:sldMkLst>
        <pc:picChg chg="add mod">
          <ac:chgData name="SREE HARSHA" userId="130b8ab82eb85e8a" providerId="LiveId" clId="{20622500-5E93-43FA-823F-A85BA7F244DD}" dt="2026-09-27T08:53:39.977" v="125" actId="931"/>
          <ac:picMkLst>
            <pc:docMk/>
            <pc:sldMk cId="3546880019" sldId="264"/>
            <ac:picMk id="3" creationId="{5747ADF2-7871-7EFB-D5A1-BCE8688FF6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57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URL BEHAVIOUR CLASSIFICATION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Detecting Malicious URLs from Structural Features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Bolla Sree Harsha  |   Learn Depth Academy LLP — Internship Capstone (Track 1, Problem 02)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Phishing from the URL Alone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URLs imitate trusted sites to steal credentials. Blacklists can't keep up with new attacks — so we classify URLs using only features computed instantly from the string itself, no page visit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450,176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URLs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36576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76.8%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4617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36576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23.2%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4617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78240" y="36576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0" y="3886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4617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Duplicate rows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PhishTank (malicious)  ·  Majestic Million (benign)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Features Engineered from the Raw URL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URL string is available — every feature is derived directly from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240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url_length, hostname_length, path_length, query_length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mix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017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digit_count, digit_ratio, special_char_count, dot/slash/hyphen counts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94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7947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? &amp; = % _ counts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572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signals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45720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subdomain_count, has_https, has_ip, has_www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349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signal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53492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suspicious_keyword (login, verify, secure, bank...)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Malicious URLs Look Structurally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29968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URLs and higher digit ratios are more common among malicious URLs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98648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7889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URLs show more special characters and deeper subdomain nesting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67328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657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usage is far more common among benign URLs than malicious ones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636008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5262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correlation heatmap confirmed low redundancy before modelling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Stratified 80/20 Split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0515600" cy="146304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max_iter=1000  ·  Decision Tree: max_depth=10 (kept shallow to limit overfitting and stay explainable)</a:t>
            </a:r>
            <a:endParaRPr lang="en-US" sz="1200" dirty="0"/>
          </a:p>
        </p:txBody>
      </p:sp>
      <p:sp>
        <p:nvSpPr>
          <p:cNvPr id="4" name="Shape 3"/>
          <p:cNvSpPr/>
          <p:nvPr/>
        </p:nvSpPr>
        <p:spPr>
          <a:xfrm>
            <a:off x="548640" y="4480560"/>
            <a:ext cx="10332720" cy="1280160"/>
          </a:xfrm>
          <a:prstGeom prst="roundRect">
            <a:avLst>
              <a:gd name="adj" fmla="val 5714"/>
            </a:avLst>
          </a:prstGeom>
          <a:solidFill>
            <a:srgbClr val="F7F8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61772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was intentionally excluded.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scope calls for foundational ML methods that stay explainable end-to-end — every decision the model makes needs to be defensible in the viva.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Logistic Regression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10972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7568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ROC-AUC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075688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99.79% vs 99.77% — slightly better separation across all thresholds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46120"/>
            <a:ext cx="10972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3558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3355848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risk scores, not clustered leaf values — needed for the app's risk display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526280"/>
            <a:ext cx="10972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63600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4636008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coefficient gives a direct, defensible story for the paper and viva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Caveat We Address Head-On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162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14884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has_https </a:t>
            </a: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single strongest predictive feature — but it reflects how the datasets were assembled, not a universal phishing rule.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URLs (Majestic Million) are almost all HTTPS. Malicious URLs (PhishTank) mostly aren't. In the real world, phishing sites increasingly adopt free HTTPS certificates — so a model over-reliant on this signal may under-detect HTTPS-enabled phishing.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in the paper as a direction for future work, not treated as a hidden flaw.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Model to Working App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73736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feature-extraction function powers training and the live app — no train/serve mismatch.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78892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27249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743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329184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35040" y="322783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46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paper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0" y="379476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0" y="37307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466344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7F8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4800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dataset-honest, and reproducible — a defensible foundation for the viva.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25F208-C0AB-848E-32D5-047A08662E25}"/>
              </a:ext>
            </a:extLst>
          </p:cNvPr>
          <p:cNvSpPr txBox="1"/>
          <p:nvPr/>
        </p:nvSpPr>
        <p:spPr>
          <a:xfrm>
            <a:off x="6400800" y="3780951"/>
            <a:ext cx="3592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Jupiter notebook file</a:t>
            </a:r>
            <a:endParaRPr lang="en-IN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FCC66C7-A032-7504-8F9C-F74DAD840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1418253"/>
            <a:ext cx="5739571" cy="53483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44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47ADF2-7871-7EFB-D5A1-BCE8688FF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80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566</Words>
  <Application>Microsoft Office PowerPoint</Application>
  <PresentationFormat>Widescreen</PresentationFormat>
  <Paragraphs>99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SREE HARSHA</cp:lastModifiedBy>
  <cp:revision>1</cp:revision>
  <dcterms:created xsi:type="dcterms:W3CDTF">2026-09-26T19:24:14Z</dcterms:created>
  <dcterms:modified xsi:type="dcterms:W3CDTF">2026-09-27T08:53:49Z</dcterms:modified>
</cp:coreProperties>
</file>